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3" r:id="rId6"/>
    <p:sldId id="261" r:id="rId7"/>
    <p:sldId id="262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6F0"/>
    <a:srgbClr val="F8F5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D61E73-CB3B-4D71-ACE9-C212BFF2FE3E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1F6119-F98D-4B83-BB8A-2BE989EF3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139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1F6119-F98D-4B83-BB8A-2BE989EF331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264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" Type="http://schemas.openxmlformats.org/officeDocument/2006/relationships/image" Target="../media/image1.png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26.png"/><Relationship Id="rId9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18369"/>
            <a:ext cx="6720840" cy="1462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sz="4800" b="0" i="0" u="none">
                <a:solidFill>
                  <a:srgbClr val="35312E"/>
                </a:solidFill>
                <a:latin typeface="Lora Medium"/>
              </a:rPr>
              <a:t>Container Management Shell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324225"/>
            <a:ext cx="5123121" cy="3610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IN" sz="1950" b="0" i="1" u="none" dirty="0">
                <a:solidFill>
                  <a:srgbClr val="8B7363"/>
                </a:solidFill>
                <a:latin typeface="Lora"/>
              </a:rPr>
              <a:t>Team No 15-Operating systems project</a:t>
            </a:r>
            <a:endParaRPr sz="1950" b="0" i="1" u="none" dirty="0">
              <a:solidFill>
                <a:srgbClr val="8B7363"/>
              </a:solidFill>
              <a:latin typeface="Lor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0124" y="3942456"/>
            <a:ext cx="4002500" cy="21544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C88262"/>
                </a:solidFill>
                <a:latin typeface="Lato"/>
              </a:rPr>
              <a:t>Project Team</a:t>
            </a:r>
            <a:r>
              <a:rPr sz="1400" b="0" i="0" u="none" dirty="0">
                <a:solidFill>
                  <a:srgbClr val="5A544F"/>
                </a:solidFill>
                <a:latin typeface="Lato"/>
              </a:rPr>
              <a:t> </a:t>
            </a:r>
            <a:endParaRPr lang="en-IN" sz="1400" b="0" i="0" u="none" dirty="0">
              <a:solidFill>
                <a:srgbClr val="5A544F"/>
              </a:solidFill>
              <a:latin typeface="Lato"/>
            </a:endParaRPr>
          </a:p>
          <a:p>
            <a:pPr algn="l"/>
            <a:endParaRPr lang="en-IN" sz="1400" b="0" i="0" u="none" dirty="0">
              <a:solidFill>
                <a:srgbClr val="5A544F"/>
              </a:solidFill>
              <a:latin typeface="Lato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Vidya Keerthi Chitturi – 2510030372</a:t>
            </a:r>
          </a:p>
          <a:p>
            <a:pPr marL="228600" indent="-228600">
              <a:buFont typeface="+mj-lt"/>
              <a:buAutoNum type="arabicPeriod"/>
            </a:pPr>
            <a:endParaRPr lang="en-IN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Badam Hasika – 2510030403</a:t>
            </a:r>
          </a:p>
          <a:p>
            <a:pPr marL="228600" indent="-228600">
              <a:buFont typeface="+mj-lt"/>
              <a:buAutoNum type="arabicPeriod"/>
            </a:pPr>
            <a:endParaRPr lang="en-IN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Madi Amulya – 2510030158</a:t>
            </a:r>
          </a:p>
          <a:p>
            <a:pPr marL="228600" indent="-228600">
              <a:buFont typeface="+mj-lt"/>
              <a:buAutoNum type="arabicPeriod"/>
            </a:pPr>
            <a:endParaRPr lang="en-IN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Shaik Asha Parveen - 2510030225 </a:t>
            </a:r>
          </a:p>
          <a:p>
            <a:pPr marL="228600" indent="-228600">
              <a:buFont typeface="+mj-lt"/>
              <a:buAutoNum type="arabicPeriod"/>
            </a:pPr>
            <a:endParaRPr lang="en-IN" sz="1400" dirty="0"/>
          </a:p>
        </p:txBody>
      </p:sp>
      <p:sp>
        <p:nvSpPr>
          <p:cNvPr id="7" name="Rectangle 6"/>
          <p:cNvSpPr/>
          <p:nvPr/>
        </p:nvSpPr>
        <p:spPr>
          <a:xfrm flipH="1">
            <a:off x="790574" y="3785191"/>
            <a:ext cx="45719" cy="2190307"/>
          </a:xfrm>
          <a:prstGeom prst="rect">
            <a:avLst/>
          </a:prstGeom>
          <a:solidFill>
            <a:srgbClr val="C882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6697394-A4BD-89E3-BA6D-9334BA9039EC}"/>
              </a:ext>
            </a:extLst>
          </p:cNvPr>
          <p:cNvSpPr/>
          <p:nvPr/>
        </p:nvSpPr>
        <p:spPr>
          <a:xfrm>
            <a:off x="7482840" y="2223751"/>
            <a:ext cx="4285231" cy="3437409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8F6F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25" y="2071687"/>
            <a:ext cx="5057775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5911"/>
            <a:ext cx="5038725" cy="21714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1586061"/>
            <a:ext cx="503872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5A544F"/>
                </a:solidFill>
                <a:latin typeface="Lato"/>
              </a:rPr>
              <a:t>Managing Linux containers today means juggling multiple disparate commands – creating, running, monitoring, and stopping containers each require separate tooling and manual steps.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043386"/>
            <a:ext cx="50387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5A544F"/>
                </a:solidFill>
                <a:latin typeface="Lato"/>
              </a:rPr>
              <a:t>This complexity is repetitive and error-prone, especially for developers working across many containers in modern environments.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5850" y="4481661"/>
            <a:ext cx="4429125" cy="15999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575" b="0" i="1" u="none" dirty="0">
                <a:solidFill>
                  <a:srgbClr val="35312E"/>
                </a:solidFill>
                <a:latin typeface="Lora"/>
              </a:rPr>
              <a:t>This project aims to unify container management into a single interactive shell while demonstrating core OS concepts: process management, IPC, memory management, and concurrency.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90686"/>
            <a:ext cx="112014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>
                <a:solidFill>
                  <a:srgbClr val="35312E"/>
                </a:solidFill>
                <a:latin typeface="Lora Medium"/>
              </a:rPr>
              <a:t>The </a:t>
            </a:r>
            <a:r>
              <a:rPr sz="3450" b="0" i="1" u="none">
                <a:solidFill>
                  <a:srgbClr val="C88262"/>
                </a:solidFill>
                <a:latin typeface="Lora Medium"/>
              </a:rPr>
              <a:t>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1195536"/>
            <a:ext cx="10668000" cy="9525"/>
          </a:xfrm>
          <a:prstGeom prst="rect">
            <a:avLst/>
          </a:prstGeom>
          <a:solidFill>
            <a:srgbClr val="E3D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: Single Corner Rounded 13">
            <a:extLst>
              <a:ext uri="{FF2B5EF4-FFF2-40B4-BE49-F238E27FC236}">
                <a16:creationId xmlns:a16="http://schemas.microsoft.com/office/drawing/2014/main" id="{128F6DE1-1B30-180D-EB97-0B54490EE092}"/>
              </a:ext>
            </a:extLst>
          </p:cNvPr>
          <p:cNvSpPr/>
          <p:nvPr/>
        </p:nvSpPr>
        <p:spPr>
          <a:xfrm>
            <a:off x="6391277" y="2052896"/>
            <a:ext cx="5057775" cy="3800475"/>
          </a:xfrm>
          <a:prstGeom prst="round1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8F6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861417"/>
            <a:ext cx="5214937" cy="19180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861417"/>
            <a:ext cx="5214937" cy="19180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017639"/>
            <a:ext cx="5214937" cy="191809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5062" y="3017639"/>
            <a:ext cx="5214937" cy="191809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5173860"/>
            <a:ext cx="5214937" cy="162282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5062" y="5173860"/>
            <a:ext cx="5214937" cy="16228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7275" y="1156692"/>
            <a:ext cx="462438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1" u="none">
                <a:solidFill>
                  <a:srgbClr val="C88262"/>
                </a:solidFill>
                <a:latin typeface="Lora"/>
              </a:rPr>
              <a:t> 01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1575792"/>
            <a:ext cx="485560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35312E"/>
                </a:solidFill>
                <a:latin typeface="Lora Medium"/>
              </a:rPr>
              <a:t>Interactive Shell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1966317"/>
            <a:ext cx="4624387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 dirty="0">
                <a:solidFill>
                  <a:srgbClr val="5A544F"/>
                </a:solidFill>
                <a:latin typeface="Lato"/>
              </a:rPr>
              <a:t>Build a Linux-based shell dedicated for seamless command execution and container management.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337" y="1156692"/>
            <a:ext cx="462438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1" u="none">
                <a:solidFill>
                  <a:srgbClr val="C88262"/>
                </a:solidFill>
                <a:latin typeface="Lora"/>
              </a:rPr>
              <a:t> 02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337" y="1575792"/>
            <a:ext cx="485560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5312E"/>
                </a:solidFill>
                <a:latin typeface="Lora Medium"/>
              </a:rPr>
              <a:t>Process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337" y="1966317"/>
            <a:ext cx="4624387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5A544F"/>
                </a:solidFill>
                <a:latin typeface="Lato"/>
              </a:rPr>
              <a:t>Implement process creation, execution, and lifecycle strictly using fork(), exec(), and wait().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275" y="3312914"/>
            <a:ext cx="462438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1" u="none">
                <a:solidFill>
                  <a:srgbClr val="C88262"/>
                </a:solidFill>
                <a:latin typeface="Lora"/>
              </a:rPr>
              <a:t> 03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7275" y="3732014"/>
            <a:ext cx="485560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5312E"/>
                </a:solidFill>
                <a:latin typeface="Lora Medium"/>
              </a:rPr>
              <a:t>Shell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275" y="4122539"/>
            <a:ext cx="4624387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5A544F"/>
                </a:solidFill>
                <a:latin typeface="Lato"/>
              </a:rPr>
              <a:t>Support robust command parsing, inter-process pipes, I/O redirection, and signal handling.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337" y="3312914"/>
            <a:ext cx="462438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1" u="none">
                <a:solidFill>
                  <a:srgbClr val="C88262"/>
                </a:solidFill>
                <a:latin typeface="Lora"/>
              </a:rPr>
              <a:t> 04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337" y="3732014"/>
            <a:ext cx="485560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5312E"/>
                </a:solidFill>
                <a:latin typeface="Lora Medium"/>
              </a:rPr>
              <a:t>Job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337" y="4122539"/>
            <a:ext cx="4624387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5A544F"/>
                </a:solidFill>
                <a:latin typeface="Lato"/>
              </a:rPr>
              <a:t>Enable foreground and background job execution to facilitate efficient multitasking environments.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7275" y="5469135"/>
            <a:ext cx="462438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1" u="none">
                <a:solidFill>
                  <a:srgbClr val="C88262"/>
                </a:solidFill>
                <a:latin typeface="Lora"/>
              </a:rPr>
              <a:t> 05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7275" y="5888235"/>
            <a:ext cx="485560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5312E"/>
                </a:solidFill>
                <a:latin typeface="Lora Medium"/>
              </a:rPr>
              <a:t>Container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7275" y="6278760"/>
            <a:ext cx="4624387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5A544F"/>
                </a:solidFill>
                <a:latin typeface="Lato"/>
              </a:rPr>
              <a:t>Integrate create, start, stop, and monitor operations natively for containers within the shell.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337" y="5469135"/>
            <a:ext cx="462438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1" u="none">
                <a:solidFill>
                  <a:srgbClr val="C88262"/>
                </a:solidFill>
                <a:latin typeface="Lora"/>
              </a:rPr>
              <a:t> 06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337" y="5888235"/>
            <a:ext cx="485560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5312E"/>
                </a:solidFill>
                <a:latin typeface="Lora Medium"/>
              </a:rPr>
              <a:t>Concurrency &amp; Memory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337" y="6278760"/>
            <a:ext cx="4624387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 dirty="0">
                <a:solidFill>
                  <a:srgbClr val="5A544F"/>
                </a:solidFill>
                <a:latin typeface="Lato"/>
              </a:rPr>
              <a:t>Apply threading and system-level programming best practices for highly reliable execution.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5189" y="51791"/>
            <a:ext cx="112014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 dirty="0">
                <a:solidFill>
                  <a:srgbClr val="35312E"/>
                </a:solidFill>
                <a:latin typeface="Lora Medium"/>
              </a:rPr>
              <a:t>Project </a:t>
            </a:r>
            <a:r>
              <a:rPr sz="3450" b="0" i="1" u="none" dirty="0">
                <a:solidFill>
                  <a:srgbClr val="C88262"/>
                </a:solidFill>
                <a:latin typeface="Lora Medium"/>
              </a:rPr>
              <a:t>Objectives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2000" y="470892"/>
            <a:ext cx="10668000" cy="9525"/>
          </a:xfrm>
          <a:prstGeom prst="rect">
            <a:avLst/>
          </a:prstGeom>
          <a:solidFill>
            <a:srgbClr val="E3D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165151"/>
            <a:ext cx="3397150" cy="16686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7275" y="2165151"/>
            <a:ext cx="3397299" cy="16686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2700" y="2165151"/>
            <a:ext cx="3397150" cy="16686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119562"/>
            <a:ext cx="4152900" cy="166866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0650" y="4119562"/>
            <a:ext cx="6229350" cy="166866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2926" y="2322704"/>
            <a:ext cx="428625" cy="4286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38123" y="2836663"/>
            <a:ext cx="1615201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 dirty="0">
                <a:solidFill>
                  <a:srgbClr val="35312E"/>
                </a:solidFill>
                <a:latin typeface="Lora Medium"/>
              </a:rPr>
              <a:t>Language &amp; 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7637" y="3279576"/>
            <a:ext cx="1285875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sz="1275" b="0" i="0" u="none">
                <a:solidFill>
                  <a:srgbClr val="5A544F"/>
                </a:solidFill>
                <a:latin typeface="Lato"/>
              </a:rPr>
              <a:t>C • Linux / Ubuntu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1538" y="2460426"/>
            <a:ext cx="428625" cy="4286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45719" y="2889051"/>
            <a:ext cx="2100262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35312E"/>
                </a:solidFill>
                <a:latin typeface="Lora Medium"/>
              </a:rPr>
              <a:t>Container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91013" y="3279576"/>
            <a:ext cx="1209675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sz="1275" b="0" i="0" u="none">
                <a:solidFill>
                  <a:srgbClr val="5A544F"/>
                </a:solidFill>
                <a:latin typeface="Lato"/>
              </a:rPr>
              <a:t>Docker / Podman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30449" y="2312789"/>
            <a:ext cx="428625" cy="4286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08672" y="2833390"/>
            <a:ext cx="1645205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 dirty="0">
                <a:solidFill>
                  <a:srgbClr val="35312E"/>
                </a:solidFill>
                <a:latin typeface="Lora Medium"/>
              </a:rPr>
              <a:t>Build &amp; 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724" y="3339308"/>
            <a:ext cx="1943100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sz="1275" b="0" i="0" u="none" dirty="0">
                <a:solidFill>
                  <a:srgbClr val="5A544F"/>
                </a:solidFill>
                <a:latin typeface="Lato"/>
              </a:rPr>
              <a:t>GCC • Make • Git &amp; GitHub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4137" y="4414837"/>
            <a:ext cx="428625" cy="4286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93335" y="4900225"/>
            <a:ext cx="68579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 dirty="0">
                <a:solidFill>
                  <a:srgbClr val="35312E"/>
                </a:solidFill>
                <a:latin typeface="Lora Medium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9762" y="5233987"/>
            <a:ext cx="1857375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sz="1275" b="0" i="0" u="none">
                <a:solidFill>
                  <a:srgbClr val="5A544F"/>
                </a:solidFill>
                <a:latin typeface="Lato"/>
              </a:rPr>
              <a:t>VS Code • GDB • Valgrind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01012" y="4414837"/>
            <a:ext cx="428625" cy="4286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40178" y="4843462"/>
            <a:ext cx="2350293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 dirty="0">
                <a:solidFill>
                  <a:srgbClr val="35312E"/>
                </a:solidFill>
                <a:latin typeface="Lora Medium"/>
              </a:rPr>
              <a:t>System Programming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9475" y="5233987"/>
            <a:ext cx="2171700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sz="1275" b="0" i="0" u="none">
                <a:solidFill>
                  <a:srgbClr val="5A544F"/>
                </a:solidFill>
                <a:latin typeface="Lato"/>
              </a:rPr>
              <a:t>POSIX System Calls • Pthreads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13889" y="2432242"/>
            <a:ext cx="266700" cy="2095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62501" y="2569964"/>
            <a:ext cx="266700" cy="2095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54274" y="2422327"/>
            <a:ext cx="180975" cy="2095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33675" y="4524375"/>
            <a:ext cx="209550" cy="2095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10550" y="4524375"/>
            <a:ext cx="209550" cy="2095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62000" y="571500"/>
            <a:ext cx="112014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 dirty="0">
                <a:solidFill>
                  <a:srgbClr val="35312E"/>
                </a:solidFill>
                <a:latin typeface="Lora Medium"/>
              </a:rPr>
              <a:t>Technology </a:t>
            </a:r>
            <a:r>
              <a:rPr sz="3450" b="0" i="1" u="none" dirty="0">
                <a:solidFill>
                  <a:srgbClr val="C88262"/>
                </a:solidFill>
                <a:latin typeface="Lora Medium"/>
              </a:rPr>
              <a:t>Stack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2000" y="1276350"/>
            <a:ext cx="10668000" cy="9525"/>
          </a:xfrm>
          <a:prstGeom prst="rect">
            <a:avLst/>
          </a:prstGeom>
          <a:solidFill>
            <a:srgbClr val="E3D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FD567C-8866-EF0A-748C-3B104011A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500514D9-F252-9B7B-938C-794DBA3B2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937" y="1536405"/>
            <a:ext cx="5214937" cy="508236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CB55B45-156A-821C-D9FC-4FFF8B9DE8C6}"/>
              </a:ext>
            </a:extLst>
          </p:cNvPr>
          <p:cNvSpPr txBox="1"/>
          <p:nvPr/>
        </p:nvSpPr>
        <p:spPr>
          <a:xfrm>
            <a:off x="762000" y="561975"/>
            <a:ext cx="11201400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3450" dirty="0">
                <a:solidFill>
                  <a:srgbClr val="35312E"/>
                </a:solidFill>
                <a:latin typeface="Lora Medium"/>
              </a:rPr>
              <a:t>Architecture	</a:t>
            </a:r>
            <a:r>
              <a:rPr sz="3450" b="0" i="1" u="none" dirty="0">
                <a:solidFill>
                  <a:srgbClr val="C88262"/>
                </a:solidFill>
                <a:latin typeface="Lora Medium"/>
              </a:rPr>
              <a:t>O</a:t>
            </a:r>
            <a:r>
              <a:rPr lang="en-IN" sz="3450" b="0" i="1" u="none" dirty="0" err="1">
                <a:solidFill>
                  <a:srgbClr val="C88262"/>
                </a:solidFill>
                <a:latin typeface="Lora Medium"/>
              </a:rPr>
              <a:t>verview</a:t>
            </a:r>
            <a:endParaRPr sz="3450" b="0" i="1" u="none" dirty="0">
              <a:solidFill>
                <a:srgbClr val="C88262"/>
              </a:solidFill>
              <a:latin typeface="Lora Medium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BF2296-2DEE-4572-3245-454319928EB1}"/>
              </a:ext>
            </a:extLst>
          </p:cNvPr>
          <p:cNvSpPr/>
          <p:nvPr/>
        </p:nvSpPr>
        <p:spPr>
          <a:xfrm>
            <a:off x="762000" y="1276350"/>
            <a:ext cx="10668000" cy="9525"/>
          </a:xfrm>
          <a:prstGeom prst="rect">
            <a:avLst/>
          </a:prstGeom>
          <a:solidFill>
            <a:srgbClr val="E3D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>
            <a:extLst>
              <a:ext uri="{FF2B5EF4-FFF2-40B4-BE49-F238E27FC236}">
                <a16:creationId xmlns:a16="http://schemas.microsoft.com/office/drawing/2014/main" id="{C20EC074-F3CF-4CE1-EC08-36A881C43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487" y="1536405"/>
            <a:ext cx="5110384" cy="5082362"/>
          </a:xfrm>
          <a:prstGeom prst="rect">
            <a:avLst/>
          </a:prstGeom>
        </p:spPr>
      </p:pic>
      <p:pic>
        <p:nvPicPr>
          <p:cNvPr id="28" name="Picture 27" descr="image.png">
            <a:extLst>
              <a:ext uri="{FF2B5EF4-FFF2-40B4-BE49-F238E27FC236}">
                <a16:creationId xmlns:a16="http://schemas.microsoft.com/office/drawing/2014/main" id="{86644D23-2AF8-61DB-803B-E93CC963054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333486" y="1536405"/>
            <a:ext cx="5057220" cy="5082362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8A3CD31B-2F76-C1B0-4BBD-D489AC45D93E}"/>
              </a:ext>
            </a:extLst>
          </p:cNvPr>
          <p:cNvSpPr/>
          <p:nvPr/>
        </p:nvSpPr>
        <p:spPr>
          <a:xfrm>
            <a:off x="333486" y="1550692"/>
            <a:ext cx="5110384" cy="5072837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8F5F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78391A-C6E6-6C33-EACD-213A70B23F6E}"/>
              </a:ext>
            </a:extLst>
          </p:cNvPr>
          <p:cNvSpPr txBox="1"/>
          <p:nvPr/>
        </p:nvSpPr>
        <p:spPr>
          <a:xfrm>
            <a:off x="6886302" y="1780268"/>
            <a:ext cx="4380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Lora Medium" pitchFamily="2" charset="0"/>
              </a:rPr>
              <a:t>Layered Design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62BD41-53EE-742B-E1E2-08E5B3DC1255}"/>
              </a:ext>
            </a:extLst>
          </p:cNvPr>
          <p:cNvSpPr txBox="1"/>
          <p:nvPr/>
        </p:nvSpPr>
        <p:spPr>
          <a:xfrm>
            <a:off x="6886302" y="2393464"/>
            <a:ext cx="4543698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shell is structured as a layered pipeline. User input flows from the REPL through parsing, process creation, and IPC — with signal handling and container operations integrated at the appropriate layers.</a:t>
            </a:r>
          </a:p>
          <a:p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Clean separation of concerns between modules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Each layer communicates via well-defined interfaces</a:t>
            </a:r>
          </a:p>
          <a:p>
            <a:endParaRPr lang="en-IN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Container engine sits at the top as the highest-level abstraction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167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314825"/>
            <a:ext cx="10668000" cy="103822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666875"/>
            <a:ext cx="3429000" cy="1038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0" y="1666875"/>
            <a:ext cx="3429000" cy="1038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1666875"/>
            <a:ext cx="3429000" cy="1038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895600"/>
            <a:ext cx="3429000" cy="1038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0" y="2895600"/>
            <a:ext cx="3429000" cy="1038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2895600"/>
            <a:ext cx="3429000" cy="1038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4529137"/>
            <a:ext cx="428625" cy="4286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2025" y="2276475"/>
            <a:ext cx="30289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5A544F"/>
                </a:solidFill>
                <a:latin typeface="Lato"/>
              </a:rPr>
              <a:t>Command input loop and built-in execution.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2276475"/>
            <a:ext cx="30289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5A544F"/>
                </a:solidFill>
                <a:latin typeface="Lato"/>
              </a:rPr>
              <a:t>Tokenization and command interpretation.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1025" y="2276475"/>
            <a:ext cx="30289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5A544F"/>
                </a:solidFill>
                <a:latin typeface="Lato"/>
              </a:rPr>
              <a:t>fork(), exec(), wait() – foreground/background.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3505200"/>
            <a:ext cx="30289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5A544F"/>
                </a:solidFill>
                <a:latin typeface="Lato"/>
              </a:rPr>
              <a:t>Pipes and input/output redirection.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5" y="3505200"/>
            <a:ext cx="30289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5A544F"/>
                </a:solidFill>
                <a:latin typeface="Lato"/>
              </a:rPr>
              <a:t>SIGINT, SIGTSTP, SIGCHLD – full management.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1025" y="3505200"/>
            <a:ext cx="30289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5A544F"/>
                </a:solidFill>
                <a:latin typeface="Lato"/>
              </a:rPr>
              <a:t>Create, start, stop, remove, list, and monitor.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1562" y="4638675"/>
            <a:ext cx="209550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81150" y="4514850"/>
            <a:ext cx="39604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 dirty="0">
                <a:solidFill>
                  <a:srgbClr val="35312E"/>
                </a:solidFill>
                <a:latin typeface="Lora Medium"/>
              </a:rPr>
              <a:t>Concurrency &amp;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1150" y="4743450"/>
            <a:ext cx="37719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5A544F"/>
                </a:solidFill>
                <a:latin typeface="Lato"/>
              </a:rPr>
              <a:t>Threads for real-time CPU and memory resource monitoring.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025" y="1866900"/>
            <a:ext cx="333375" cy="3333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38275" y="1919287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5312E"/>
                </a:solidFill>
                <a:latin typeface="Lora Medium"/>
              </a:rPr>
              <a:t>REPL Interface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81525" y="1866900"/>
            <a:ext cx="333375" cy="3333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57775" y="1919287"/>
            <a:ext cx="148018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5312E"/>
                </a:solidFill>
                <a:latin typeface="Lora Medium"/>
              </a:rPr>
              <a:t>Command Parser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1025" y="1866900"/>
            <a:ext cx="333375" cy="3333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677275" y="1919287"/>
            <a:ext cx="14751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5312E"/>
                </a:solidFill>
                <a:latin typeface="Lora Medium"/>
              </a:rPr>
              <a:t>Process Manager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2025" y="3095625"/>
            <a:ext cx="333375" cy="3333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38275" y="3148012"/>
            <a:ext cx="151518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5312E"/>
                </a:solidFill>
                <a:latin typeface="Lora Medium"/>
              </a:rPr>
              <a:t>IPC &amp; Redirection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81525" y="3095625"/>
            <a:ext cx="333375" cy="33337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057775" y="3148012"/>
            <a:ext cx="17202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5312E"/>
                </a:solidFill>
                <a:latin typeface="Lora Medium"/>
              </a:rPr>
              <a:t>Signal &amp; Job Control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01025" y="3095625"/>
            <a:ext cx="333375" cy="33337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677275" y="3148012"/>
            <a:ext cx="124515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5312E"/>
                </a:solidFill>
                <a:latin typeface="Lora Medium"/>
              </a:rPr>
              <a:t>Container Ops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2987" y="1957387"/>
            <a:ext cx="171450" cy="1524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72012" y="1957387"/>
            <a:ext cx="152400" cy="1524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91512" y="1957387"/>
            <a:ext cx="152400" cy="1524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2037" y="3186112"/>
            <a:ext cx="133350" cy="1524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81537" y="3186112"/>
            <a:ext cx="133350" cy="1524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81987" y="3186112"/>
            <a:ext cx="171450" cy="1524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62000" y="571500"/>
            <a:ext cx="112014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>
                <a:solidFill>
                  <a:srgbClr val="35312E"/>
                </a:solidFill>
                <a:latin typeface="Lora Medium"/>
              </a:rPr>
              <a:t>Project </a:t>
            </a:r>
            <a:r>
              <a:rPr sz="3450" b="0" i="1" u="none">
                <a:solidFill>
                  <a:srgbClr val="C88262"/>
                </a:solidFill>
                <a:latin typeface="Lora Medium"/>
              </a:rPr>
              <a:t>Modules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2000" y="1276350"/>
            <a:ext cx="10668000" cy="9525"/>
          </a:xfrm>
          <a:prstGeom prst="rect">
            <a:avLst/>
          </a:prstGeom>
          <a:solidFill>
            <a:srgbClr val="E3D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595812"/>
            <a:ext cx="1600200" cy="12686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5470" y="2565201"/>
            <a:ext cx="1600200" cy="12686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8941" y="4595812"/>
            <a:ext cx="1600200" cy="126861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2412" y="2565201"/>
            <a:ext cx="1600200" cy="126861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5882" y="4595812"/>
            <a:ext cx="1600200" cy="126861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9353" y="2565201"/>
            <a:ext cx="1600200" cy="12686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6012209"/>
            <a:ext cx="10668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1" u="none">
                <a:solidFill>
                  <a:srgbClr val="8B7363"/>
                </a:solidFill>
                <a:latin typeface="Lato"/>
              </a:rPr>
              <a:t>A 12-week incremental build plan culminating in a fully integrated container-aware shell.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4205287"/>
            <a:ext cx="10668000" cy="19050"/>
          </a:xfrm>
          <a:prstGeom prst="rect">
            <a:avLst/>
          </a:prstGeom>
          <a:solidFill>
            <a:srgbClr val="E3D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447800" y="41005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C88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61270" y="41005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C88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74741" y="41005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C88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888212" y="41005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C88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701682" y="41005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C88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15153" y="41005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C88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2015" y="4795837"/>
            <a:ext cx="136017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8B7363"/>
                </a:solidFill>
                <a:latin typeface="Lora Medium"/>
              </a:rPr>
              <a:t>Weeks 1-2</a:t>
            </a:r>
            <a:r>
              <a:rPr sz="1275" b="0" i="0" u="none">
                <a:solidFill>
                  <a:srgbClr val="35312E"/>
                </a:solidFill>
                <a:latin typeface="Lora Medium"/>
              </a:rPr>
              <a:t> REPL &amp; 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91137"/>
            <a:ext cx="12954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5A544F"/>
                </a:solidFill>
                <a:latin typeface="Lato"/>
              </a:rPr>
              <a:t>Makefile, memory management.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5485" y="2765226"/>
            <a:ext cx="136017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8B7363"/>
                </a:solidFill>
                <a:latin typeface="Lora Medium"/>
              </a:rPr>
              <a:t>Weeks 3-4</a:t>
            </a:r>
            <a:r>
              <a:rPr sz="1275" b="0" i="0" u="none">
                <a:solidFill>
                  <a:srgbClr val="35312E"/>
                </a:solidFill>
                <a:latin typeface="Lora Medium"/>
              </a:rPr>
              <a:t> Core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7870" y="3260526"/>
            <a:ext cx="12954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5A544F"/>
                </a:solidFill>
                <a:latin typeface="Lato"/>
              </a:rPr>
              <a:t>Parser, AST, process creation.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56" y="4795837"/>
            <a:ext cx="136017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8B7363"/>
                </a:solidFill>
                <a:latin typeface="Lora Medium"/>
              </a:rPr>
              <a:t>Weeks 5-6</a:t>
            </a:r>
            <a:r>
              <a:rPr sz="1275" b="0" i="0" u="none">
                <a:solidFill>
                  <a:srgbClr val="35312E"/>
                </a:solidFill>
                <a:latin typeface="Lora Medium"/>
              </a:rPr>
              <a:t> Environment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1341" y="5291137"/>
            <a:ext cx="12954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5A544F"/>
                </a:solidFill>
                <a:latin typeface="Lato"/>
              </a:rPr>
              <a:t>PATH resolution, built-in commands.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2427" y="2765226"/>
            <a:ext cx="136017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8B7363"/>
                </a:solidFill>
                <a:latin typeface="Lora Medium"/>
              </a:rPr>
              <a:t>Weeks 7-8</a:t>
            </a:r>
            <a:r>
              <a:rPr sz="1275" b="0" i="0" u="none">
                <a:solidFill>
                  <a:srgbClr val="35312E"/>
                </a:solidFill>
                <a:latin typeface="Lora Medium"/>
              </a:rPr>
              <a:t> IPC &amp;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4812" y="3260526"/>
            <a:ext cx="12954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5A544F"/>
                </a:solidFill>
                <a:latin typeface="Lato"/>
              </a:rPr>
              <a:t>Pipes, memory testing (Valgrind).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5897" y="4795837"/>
            <a:ext cx="136017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8B7363"/>
                </a:solidFill>
                <a:latin typeface="Lora Medium"/>
              </a:rPr>
              <a:t>Weeks 9-10</a:t>
            </a:r>
            <a:r>
              <a:rPr sz="1275" b="0" i="0" u="none">
                <a:solidFill>
                  <a:srgbClr val="35312E"/>
                </a:solidFill>
                <a:latin typeface="Lora Medium"/>
              </a:rPr>
              <a:t> Concurrency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8282" y="5291137"/>
            <a:ext cx="12954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5A544F"/>
                </a:solidFill>
                <a:latin typeface="Lato"/>
              </a:rPr>
              <a:t>I/O redirection, threads, monitoring.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9368" y="2765226"/>
            <a:ext cx="136017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8B7363"/>
                </a:solidFill>
                <a:latin typeface="Lora Medium"/>
              </a:rPr>
              <a:t>Weeks 11-12</a:t>
            </a:r>
            <a:r>
              <a:rPr sz="1275" b="0" i="0" u="none">
                <a:solidFill>
                  <a:srgbClr val="35312E"/>
                </a:solidFill>
                <a:latin typeface="Lora Medium"/>
              </a:rPr>
              <a:t>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81753" y="3260526"/>
            <a:ext cx="12954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5A544F"/>
                </a:solidFill>
                <a:latin typeface="Lato"/>
              </a:rPr>
              <a:t>Job control, container ops &amp; docs.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571500"/>
            <a:ext cx="112014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>
                <a:solidFill>
                  <a:srgbClr val="35312E"/>
                </a:solidFill>
                <a:latin typeface="Lora Medium"/>
              </a:rPr>
              <a:t>Project </a:t>
            </a:r>
            <a:r>
              <a:rPr sz="3450" b="0" i="1" u="none">
                <a:solidFill>
                  <a:srgbClr val="C88262"/>
                </a:solidFill>
                <a:latin typeface="Lora Medium"/>
              </a:rPr>
              <a:t>Timeline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2000" y="1276350"/>
            <a:ext cx="10668000" cy="9525"/>
          </a:xfrm>
          <a:prstGeom prst="rect">
            <a:avLst/>
          </a:prstGeom>
          <a:solidFill>
            <a:srgbClr val="E3D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666875"/>
            <a:ext cx="5214937" cy="2190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1666875"/>
            <a:ext cx="5214937" cy="2190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095750"/>
            <a:ext cx="5214937" cy="2190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5062" y="4095750"/>
            <a:ext cx="5214937" cy="2190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7275" y="2533650"/>
            <a:ext cx="4624387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5A544F"/>
                </a:solidFill>
                <a:latin typeface="Lato"/>
              </a:rPr>
              <a:t>A fully interactive Linux shell capable of executing arbitrary commands with comprehensive parsing and syntax support.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0337" y="2533650"/>
            <a:ext cx="4624387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5A544F"/>
                </a:solidFill>
                <a:latin typeface="Lato"/>
              </a:rPr>
              <a:t>A single interface to seamlessly create, start, stop, list, and monitor containers – completely removing the need for separate tooling.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275" y="4962525"/>
            <a:ext cx="4624387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5A544F"/>
                </a:solidFill>
                <a:latin typeface="Lato"/>
              </a:rPr>
              <a:t>Working, native implementations of OS-level pipes, redirection, signaling, job control, threads, and memory management.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337" y="4962525"/>
            <a:ext cx="4624387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5A544F"/>
                </a:solidFill>
                <a:latin typeface="Lato"/>
              </a:rPr>
              <a:t>Rigorously validated software using GDB and Valgrind to ensure correctness, memory safety, and highly efficient resource usage.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" y="1962150"/>
            <a:ext cx="428625" cy="4286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28775" y="1981200"/>
            <a:ext cx="175021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5312E"/>
                </a:solidFill>
                <a:latin typeface="Lora Medium"/>
              </a:rPr>
              <a:t>Functional Shell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0337" y="1962150"/>
            <a:ext cx="428625" cy="4286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81837" y="1981200"/>
            <a:ext cx="237529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5312E"/>
                </a:solidFill>
                <a:latin typeface="Lora Medium"/>
              </a:rPr>
              <a:t>Unified Container CLI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75" y="4391025"/>
            <a:ext cx="428625" cy="4286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28775" y="4410075"/>
            <a:ext cx="303037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5312E"/>
                </a:solidFill>
                <a:latin typeface="Lora Medium"/>
              </a:rPr>
              <a:t>OS Concepts Demonstrated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0337" y="4391025"/>
            <a:ext cx="428625" cy="4286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81837" y="4410075"/>
            <a:ext cx="183522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5312E"/>
                </a:solidFill>
                <a:latin typeface="Lora Medium"/>
              </a:rPr>
              <a:t>Reliable &amp; Tested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2525" y="2071687"/>
            <a:ext cx="238125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1300" y="2071687"/>
            <a:ext cx="266700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38237" y="4500562"/>
            <a:ext cx="266700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19875" y="4500562"/>
            <a:ext cx="209550" cy="2095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62000" y="571500"/>
            <a:ext cx="112014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>
                <a:solidFill>
                  <a:srgbClr val="35312E"/>
                </a:solidFill>
                <a:latin typeface="Lora Medium"/>
              </a:rPr>
              <a:t>Expected </a:t>
            </a:r>
            <a:r>
              <a:rPr sz="3450" b="0" i="1" u="none">
                <a:solidFill>
                  <a:srgbClr val="C88262"/>
                </a:solidFill>
                <a:latin typeface="Lora Medium"/>
              </a:rPr>
              <a:t>Outcomes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2000" y="1276350"/>
            <a:ext cx="10668000" cy="9525"/>
          </a:xfrm>
          <a:prstGeom prst="rect">
            <a:avLst/>
          </a:prstGeom>
          <a:solidFill>
            <a:srgbClr val="E3D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580</Words>
  <Application>Microsoft Office PowerPoint</Application>
  <PresentationFormat>Widescreen</PresentationFormat>
  <Paragraphs>100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Lato</vt:lpstr>
      <vt:lpstr>Lora</vt:lpstr>
      <vt:lpstr>Lora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VVSS Ganesha</dc:creator>
  <cp:keywords/>
  <dc:description>generated using python-pptx</dc:description>
  <cp:lastModifiedBy>VVSS Ganesha</cp:lastModifiedBy>
  <cp:revision>3</cp:revision>
  <dcterms:created xsi:type="dcterms:W3CDTF">2013-01-27T09:14:16Z</dcterms:created>
  <dcterms:modified xsi:type="dcterms:W3CDTF">2026-08-07T19:17:56Z</dcterms:modified>
  <cp:category/>
</cp:coreProperties>
</file>